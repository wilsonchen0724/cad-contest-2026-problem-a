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3" name="left-accent"/>
          <p:cNvSpPr txBox="1"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4" name="kicker"/>
          <p:cNvSpPr txBox="1"/>
          <p:nvPr/>
        </p:nvSpPr>
        <p:spPr>
          <a:xfrm>
            <a:off x="685800" y="365760"/>
            <a:ext cx="220000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50" b="1">
                <a:solidFill>
                  <a:srgbClr val="1D4ED8"/>
                </a:solidFill>
                <a:latin typeface="Aptos"/>
                <a:ea typeface="Microsoft JhengHei"/>
              </a:rPr>
              <a:t>CAD_A OVERVIEW</a:t>
            </a:r>
            <a:endParaRPr lang="en-US" sz="1150"/>
          </a:p>
        </p:txBody>
      </p:sp>
      <p:sp>
        <p:nvSpPr>
          <p:cNvPr id="5" name="title"/>
          <p:cNvSpPr txBox="1"/>
          <p:nvPr/>
        </p:nvSpPr>
        <p:spPr>
          <a:xfrm>
            <a:off x="685800" y="838200"/>
            <a:ext cx="103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b="1">
                <a:solidFill>
                  <a:srgbClr val="0F172A"/>
                </a:solidFill>
                <a:latin typeface="Aptos"/>
                <a:ea typeface="Microsoft JhengHei"/>
              </a:rPr>
              <a:t>Guarded LLM-assisted EDA for gate-level netlists</a:t>
            </a:r>
            <a:endParaRPr lang="en-US" sz="3000"/>
          </a:p>
        </p:txBody>
      </p:sp>
      <p:sp>
        <p:nvSpPr>
          <p:cNvPr id="6" name="subtitle"/>
          <p:cNvSpPr txBox="1"/>
          <p:nvPr/>
        </p:nvSpPr>
        <p:spPr>
          <a:xfrm>
            <a:off x="685800" y="16764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50">
                <a:solidFill>
                  <a:srgbClr val="475569"/>
                </a:solidFill>
                <a:latin typeface="Aptos"/>
                <a:ea typeface="Microsoft JhengHei"/>
              </a:rPr>
              <a:t>LLM plans the request; deterministic backend owns parsing, graph analysis, transformation, and verification.</a:t>
            </a:r>
            <a:endParaRPr lang="en-US" sz="1550"/>
          </a:p>
        </p:txBody>
      </p:sp>
      <p:sp>
        <p:nvSpPr>
          <p:cNvPr id="7" name="bullets"/>
          <p:cNvSpPr txBox="1"/>
          <p:nvPr/>
        </p:nvSpPr>
        <p:spPr>
          <a:xfrm>
            <a:off x="685800" y="4880000"/>
            <a:ext cx="10000000" cy="1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Contest-style stdin/stdout runtime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Restricted Tool API instead of free-form Verilog editing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172 unit tests passing on the latest working tree</a:t>
            </a:r>
            <a:endParaRPr lang="en-US" sz="1450"/>
          </a:p>
        </p:txBody>
      </p:sp>
      <p:sp>
        <p:nvSpPr>
          <p:cNvPr id="10" name="diagram-1"/>
          <p:cNvSpPr txBox="1"/>
          <p:nvPr/>
        </p:nvSpPr>
        <p:spPr>
          <a:xfrm>
            <a:off x="850000" y="2870000"/>
            <a:ext cx="220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Natural language</a:t>
            </a:r>
            <a:endParaRPr lang="en-US" sz="1350"/>
          </a:p>
        </p:txBody>
      </p:sp>
      <p:cxnSp>
        <p:nvCxnSpPr>
          <p:cNvPr id="30" name="connector"/>
          <p:cNvCxnSpPr/>
          <p:nvPr/>
        </p:nvCxnSpPr>
        <p:spPr>
          <a:xfrm>
            <a:off x="305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1" name="diagram-2"/>
          <p:cNvSpPr txBox="1"/>
          <p:nvPr/>
        </p:nvSpPr>
        <p:spPr>
          <a:xfrm>
            <a:off x="3330000" y="2870000"/>
            <a:ext cx="220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Tool API plan</a:t>
            </a:r>
            <a:endParaRPr lang="en-US" sz="1350"/>
          </a:p>
        </p:txBody>
      </p:sp>
      <p:cxnSp>
        <p:nvCxnSpPr>
          <p:cNvPr id="31" name="connector"/>
          <p:cNvCxnSpPr/>
          <p:nvPr/>
        </p:nvCxnSpPr>
        <p:spPr>
          <a:xfrm>
            <a:off x="553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2" name="diagram-3"/>
          <p:cNvSpPr txBox="1"/>
          <p:nvPr/>
        </p:nvSpPr>
        <p:spPr>
          <a:xfrm>
            <a:off x="5810000" y="2870000"/>
            <a:ext cx="220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EDA backend</a:t>
            </a:r>
            <a:endParaRPr lang="en-US" sz="1350"/>
          </a:p>
        </p:txBody>
      </p:sp>
      <p:cxnSp>
        <p:nvCxnSpPr>
          <p:cNvPr id="32" name="connector"/>
          <p:cNvCxnSpPr/>
          <p:nvPr/>
        </p:nvCxnSpPr>
        <p:spPr>
          <a:xfrm>
            <a:off x="801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3" name="diagram-4"/>
          <p:cNvSpPr txBox="1"/>
          <p:nvPr/>
        </p:nvSpPr>
        <p:spPr>
          <a:xfrm>
            <a:off x="8290000" y="2870000"/>
            <a:ext cx="220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Verified response</a:t>
            </a:r>
            <a:endParaRPr lang="en-US" sz="1350"/>
          </a:p>
        </p:txBody>
      </p:sp>
      <p:sp>
        <p:nvSpPr>
          <p:cNvPr id="50" name="footer"/>
          <p:cNvSpPr txBox="1"/>
          <p:nvPr/>
        </p:nvSpPr>
        <p:spPr>
          <a:xfrm>
            <a:off x="9650000" y="640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950">
                <a:solidFill>
                  <a:srgbClr val="64748B"/>
                </a:solidFill>
                <a:latin typeface="Aptos"/>
                <a:ea typeface="Microsoft JhengHei"/>
              </a:rPr>
              <a:t>01 / 08</a:t>
            </a:r>
            <a:endParaRPr lang="en-US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3" name="left-accent"/>
          <p:cNvSpPr txBox="1"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4" name="kicker"/>
          <p:cNvSpPr txBox="1"/>
          <p:nvPr/>
        </p:nvSpPr>
        <p:spPr>
          <a:xfrm>
            <a:off x="685800" y="365760"/>
            <a:ext cx="220000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50" b="1">
                <a:solidFill>
                  <a:srgbClr val="1D4ED8"/>
                </a:solidFill>
                <a:latin typeface="Aptos"/>
                <a:ea typeface="Microsoft JhengHei"/>
              </a:rPr>
              <a:t>SYSTEM ARCHITECTURE</a:t>
            </a:r>
            <a:endParaRPr lang="en-US" sz="1150"/>
          </a:p>
        </p:txBody>
      </p:sp>
      <p:sp>
        <p:nvSpPr>
          <p:cNvPr id="5" name="title"/>
          <p:cNvSpPr txBox="1"/>
          <p:nvPr/>
        </p:nvSpPr>
        <p:spPr>
          <a:xfrm>
            <a:off x="685800" y="838200"/>
            <a:ext cx="103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b="1">
                <a:solidFill>
                  <a:srgbClr val="0F172A"/>
                </a:solidFill>
                <a:latin typeface="Aptos"/>
                <a:ea typeface="Microsoft JhengHei"/>
              </a:rPr>
              <a:t>A narrow safety boundary separates LLM planning from EDA execution</a:t>
            </a:r>
            <a:endParaRPr lang="en-US" sz="3000"/>
          </a:p>
        </p:txBody>
      </p:sp>
      <p:sp>
        <p:nvSpPr>
          <p:cNvPr id="6" name="subtitle"/>
          <p:cNvSpPr txBox="1"/>
          <p:nvPr/>
        </p:nvSpPr>
        <p:spPr>
          <a:xfrm>
            <a:off x="685800" y="16764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50">
                <a:solidFill>
                  <a:srgbClr val="475569"/>
                </a:solidFill>
                <a:latin typeface="Aptos"/>
                <a:ea typeface="Microsoft JhengHei"/>
              </a:rPr>
              <a:t>Every request flows through planner, checker, dispatcher, and backend before producing a contest response.</a:t>
            </a:r>
            <a:endParaRPr lang="en-US" sz="1550"/>
          </a:p>
        </p:txBody>
      </p:sp>
      <p:sp>
        <p:nvSpPr>
          <p:cNvPr id="7" name="bullets"/>
          <p:cNvSpPr txBox="1"/>
          <p:nvPr/>
        </p:nvSpPr>
        <p:spPr>
          <a:xfrm>
            <a:off x="685800" y="4880000"/>
            <a:ext cx="10000000" cy="1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main.py owns the interactive request loop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agent/ produces domain tool calls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runtime/dispatcher.py executes validated operations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eda/ and parser/ own deterministic behavior</a:t>
            </a:r>
            <a:endParaRPr lang="en-US" sz="1450"/>
          </a:p>
        </p:txBody>
      </p:sp>
      <p:sp>
        <p:nvSpPr>
          <p:cNvPr id="10" name="diagram-1"/>
          <p:cNvSpPr txBox="1"/>
          <p:nvPr/>
        </p:nvSpPr>
        <p:spPr>
          <a:xfrm>
            <a:off x="85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stdin</a:t>
            </a:r>
            <a:endParaRPr lang="en-US" sz="1350"/>
          </a:p>
        </p:txBody>
      </p:sp>
      <p:cxnSp>
        <p:nvCxnSpPr>
          <p:cNvPr id="30" name="connector"/>
          <p:cNvCxnSpPr/>
          <p:nvPr/>
        </p:nvCxnSpPr>
        <p:spPr>
          <a:xfrm>
            <a:off x="270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1" name="diagram-2"/>
          <p:cNvSpPr txBox="1"/>
          <p:nvPr/>
        </p:nvSpPr>
        <p:spPr>
          <a:xfrm>
            <a:off x="2980000" y="2870000"/>
            <a:ext cx="185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Planner</a:t>
            </a:r>
            <a:endParaRPr lang="en-US" sz="1350"/>
          </a:p>
        </p:txBody>
      </p:sp>
      <p:cxnSp>
        <p:nvCxnSpPr>
          <p:cNvPr id="31" name="connector"/>
          <p:cNvCxnSpPr/>
          <p:nvPr/>
        </p:nvCxnSpPr>
        <p:spPr>
          <a:xfrm>
            <a:off x="483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2" name="diagram-3"/>
          <p:cNvSpPr txBox="1"/>
          <p:nvPr/>
        </p:nvSpPr>
        <p:spPr>
          <a:xfrm>
            <a:off x="511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Plan checker</a:t>
            </a:r>
            <a:endParaRPr lang="en-US" sz="1350"/>
          </a:p>
        </p:txBody>
      </p:sp>
      <p:cxnSp>
        <p:nvCxnSpPr>
          <p:cNvPr id="32" name="connector"/>
          <p:cNvCxnSpPr/>
          <p:nvPr/>
        </p:nvCxnSpPr>
        <p:spPr>
          <a:xfrm>
            <a:off x="696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3" name="diagram-4"/>
          <p:cNvSpPr txBox="1"/>
          <p:nvPr/>
        </p:nvSpPr>
        <p:spPr>
          <a:xfrm>
            <a:off x="7240000" y="2870000"/>
            <a:ext cx="185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Dispatcher</a:t>
            </a:r>
            <a:endParaRPr lang="en-US" sz="1350"/>
          </a:p>
        </p:txBody>
      </p:sp>
      <p:cxnSp>
        <p:nvCxnSpPr>
          <p:cNvPr id="33" name="connector"/>
          <p:cNvCxnSpPr/>
          <p:nvPr/>
        </p:nvCxnSpPr>
        <p:spPr>
          <a:xfrm>
            <a:off x="909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4" name="diagram-5"/>
          <p:cNvSpPr txBox="1"/>
          <p:nvPr/>
        </p:nvSpPr>
        <p:spPr>
          <a:xfrm>
            <a:off x="937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Design IR</a:t>
            </a:r>
            <a:endParaRPr lang="en-US" sz="1350"/>
          </a:p>
        </p:txBody>
      </p:sp>
      <p:sp>
        <p:nvSpPr>
          <p:cNvPr id="50" name="footer"/>
          <p:cNvSpPr txBox="1"/>
          <p:nvPr/>
        </p:nvSpPr>
        <p:spPr>
          <a:xfrm>
            <a:off x="9650000" y="640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950">
                <a:solidFill>
                  <a:srgbClr val="64748B"/>
                </a:solidFill>
                <a:latin typeface="Aptos"/>
                <a:ea typeface="Microsoft JhengHei"/>
              </a:rPr>
              <a:t>02 / 08</a:t>
            </a:r>
            <a:endParaRPr lang="en-US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3" name="left-accent"/>
          <p:cNvSpPr txBox="1"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4" name="kicker"/>
          <p:cNvSpPr txBox="1"/>
          <p:nvPr/>
        </p:nvSpPr>
        <p:spPr>
          <a:xfrm>
            <a:off x="685800" y="365760"/>
            <a:ext cx="220000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50" b="1">
                <a:solidFill>
                  <a:srgbClr val="1D4ED8"/>
                </a:solidFill>
                <a:latin typeface="Aptos"/>
                <a:ea typeface="Microsoft JhengHei"/>
              </a:rPr>
              <a:t>TOOL API SAFETY</a:t>
            </a:r>
            <a:endParaRPr lang="en-US" sz="1150"/>
          </a:p>
        </p:txBody>
      </p:sp>
      <p:sp>
        <p:nvSpPr>
          <p:cNvPr id="5" name="title"/>
          <p:cNvSpPr txBox="1"/>
          <p:nvPr/>
        </p:nvSpPr>
        <p:spPr>
          <a:xfrm>
            <a:off x="685800" y="838200"/>
            <a:ext cx="103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b="1">
                <a:solidFill>
                  <a:srgbClr val="0F172A"/>
                </a:solidFill>
                <a:latin typeface="Aptos"/>
                <a:ea typeface="Microsoft JhengHei"/>
              </a:rPr>
              <a:t>The LLM can choose tools, but cannot mutate the design directly</a:t>
            </a:r>
            <a:endParaRPr lang="en-US" sz="3000"/>
          </a:p>
        </p:txBody>
      </p:sp>
      <p:sp>
        <p:nvSpPr>
          <p:cNvPr id="6" name="subtitle"/>
          <p:cNvSpPr txBox="1"/>
          <p:nvPr/>
        </p:nvSpPr>
        <p:spPr>
          <a:xfrm>
            <a:off x="685800" y="16764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50">
                <a:solidFill>
                  <a:srgbClr val="475569"/>
                </a:solidFill>
                <a:latin typeface="Aptos"/>
                <a:ea typeface="Microsoft JhengHei"/>
              </a:rPr>
              <a:t>Provider tool calls are normalized into local Tool API plans and rejected if op names, args, or categories are invalid.</a:t>
            </a:r>
            <a:endParaRPr lang="en-US" sz="1550"/>
          </a:p>
        </p:txBody>
      </p:sp>
      <p:sp>
        <p:nvSpPr>
          <p:cNvPr id="7" name="bullets"/>
          <p:cNvSpPr txBox="1"/>
          <p:nvPr/>
        </p:nvSpPr>
        <p:spPr>
          <a:xfrm>
            <a:off x="685800" y="4880000"/>
            <a:ext cx="10000000" cy="1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OpenAI / Claude domain tools group IO, analysis, transform, verification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plan_checker.py validates required args, types, unknown keys, and empty names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One repair retry handles model mistakes without weakening backend safety</a:t>
            </a:r>
            <a:endParaRPr lang="en-US" sz="1450"/>
          </a:p>
        </p:txBody>
      </p:sp>
      <p:sp>
        <p:nvSpPr>
          <p:cNvPr id="10" name="diagram-1"/>
          <p:cNvSpPr txBox="1"/>
          <p:nvPr/>
        </p:nvSpPr>
        <p:spPr>
          <a:xfrm>
            <a:off x="850000" y="2870000"/>
            <a:ext cx="220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LLM tool call</a:t>
            </a:r>
            <a:endParaRPr lang="en-US" sz="1350"/>
          </a:p>
        </p:txBody>
      </p:sp>
      <p:cxnSp>
        <p:nvCxnSpPr>
          <p:cNvPr id="30" name="connector"/>
          <p:cNvCxnSpPr/>
          <p:nvPr/>
        </p:nvCxnSpPr>
        <p:spPr>
          <a:xfrm>
            <a:off x="305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1" name="diagram-2"/>
          <p:cNvSpPr txBox="1"/>
          <p:nvPr/>
        </p:nvSpPr>
        <p:spPr>
          <a:xfrm>
            <a:off x="3330000" y="2870000"/>
            <a:ext cx="220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Normalize</a:t>
            </a:r>
            <a:endParaRPr lang="en-US" sz="1350"/>
          </a:p>
        </p:txBody>
      </p:sp>
      <p:cxnSp>
        <p:nvCxnSpPr>
          <p:cNvPr id="31" name="connector"/>
          <p:cNvCxnSpPr/>
          <p:nvPr/>
        </p:nvCxnSpPr>
        <p:spPr>
          <a:xfrm>
            <a:off x="553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2" name="diagram-3"/>
          <p:cNvSpPr txBox="1"/>
          <p:nvPr/>
        </p:nvSpPr>
        <p:spPr>
          <a:xfrm>
            <a:off x="5810000" y="2870000"/>
            <a:ext cx="220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Validate</a:t>
            </a:r>
            <a:endParaRPr lang="en-US" sz="1350"/>
          </a:p>
        </p:txBody>
      </p:sp>
      <p:cxnSp>
        <p:nvCxnSpPr>
          <p:cNvPr id="32" name="connector"/>
          <p:cNvCxnSpPr/>
          <p:nvPr/>
        </p:nvCxnSpPr>
        <p:spPr>
          <a:xfrm>
            <a:off x="801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3" name="diagram-4"/>
          <p:cNvSpPr txBox="1"/>
          <p:nvPr/>
        </p:nvSpPr>
        <p:spPr>
          <a:xfrm>
            <a:off x="8290000" y="2870000"/>
            <a:ext cx="220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Dispatch</a:t>
            </a:r>
            <a:endParaRPr lang="en-US" sz="1350"/>
          </a:p>
        </p:txBody>
      </p:sp>
      <p:sp>
        <p:nvSpPr>
          <p:cNvPr id="50" name="footer"/>
          <p:cNvSpPr txBox="1"/>
          <p:nvPr/>
        </p:nvSpPr>
        <p:spPr>
          <a:xfrm>
            <a:off x="9650000" y="640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950">
                <a:solidFill>
                  <a:srgbClr val="64748B"/>
                </a:solidFill>
                <a:latin typeface="Aptos"/>
                <a:ea typeface="Microsoft JhengHei"/>
              </a:rPr>
              <a:t>03 / 08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3" name="left-accent"/>
          <p:cNvSpPr txBox="1"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4" name="kicker"/>
          <p:cNvSpPr txBox="1"/>
          <p:nvPr/>
        </p:nvSpPr>
        <p:spPr>
          <a:xfrm>
            <a:off x="685800" y="365760"/>
            <a:ext cx="220000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50" b="1">
                <a:solidFill>
                  <a:srgbClr val="1D4ED8"/>
                </a:solidFill>
                <a:latin typeface="Aptos"/>
                <a:ea typeface="Microsoft JhengHei"/>
              </a:rPr>
              <a:t>CANONICAL IR</a:t>
            </a:r>
            <a:endParaRPr lang="en-US" sz="1150"/>
          </a:p>
        </p:txBody>
      </p:sp>
      <p:sp>
        <p:nvSpPr>
          <p:cNvPr id="5" name="title"/>
          <p:cNvSpPr txBox="1"/>
          <p:nvPr/>
        </p:nvSpPr>
        <p:spPr>
          <a:xfrm>
            <a:off x="685800" y="838200"/>
            <a:ext cx="103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b="1">
                <a:solidFill>
                  <a:srgbClr val="0F172A"/>
                </a:solidFill>
                <a:latin typeface="Aptos"/>
                <a:ea typeface="Microsoft JhengHei"/>
              </a:rPr>
              <a:t>Design IR keeps graph algorithms explainable and testable</a:t>
            </a:r>
            <a:endParaRPr lang="en-US" sz="3000"/>
          </a:p>
        </p:txBody>
      </p:sp>
      <p:sp>
        <p:nvSpPr>
          <p:cNvPr id="6" name="subtitle"/>
          <p:cNvSpPr txBox="1"/>
          <p:nvPr/>
        </p:nvSpPr>
        <p:spPr>
          <a:xfrm>
            <a:off x="685800" y="16764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50">
                <a:solidFill>
                  <a:srgbClr val="475569"/>
                </a:solidFill>
                <a:latin typeface="Aptos"/>
                <a:ea typeface="Microsoft JhengHei"/>
              </a:rPr>
              <a:t>Gate, DFF, drivers, and fanouts form the project-owned state used by every backend operation.</a:t>
            </a:r>
            <a:endParaRPr lang="en-US" sz="1550"/>
          </a:p>
        </p:txBody>
      </p:sp>
      <p:sp>
        <p:nvSpPr>
          <p:cNvPr id="7" name="bullets"/>
          <p:cNvSpPr txBox="1"/>
          <p:nvPr/>
        </p:nvSpPr>
        <p:spPr>
          <a:xfrm>
            <a:off x="685800" y="4880000"/>
            <a:ext cx="10000000" cy="1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Gate: primitive type, inputs, output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DFF: q, d, clk, reset; treated as combinational boundary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drivers/fanouts maps support reachability, cone, depth, and connectivity checks</a:t>
            </a:r>
            <a:endParaRPr lang="en-US" sz="1450"/>
          </a:p>
        </p:txBody>
      </p:sp>
      <p:sp>
        <p:nvSpPr>
          <p:cNvPr id="10" name="diagram-1"/>
          <p:cNvSpPr txBox="1"/>
          <p:nvPr/>
        </p:nvSpPr>
        <p:spPr>
          <a:xfrm>
            <a:off x="85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Design</a:t>
            </a:r>
            <a:endParaRPr lang="en-US" sz="1350"/>
          </a:p>
        </p:txBody>
      </p:sp>
      <p:cxnSp>
        <p:nvCxnSpPr>
          <p:cNvPr id="30" name="connector"/>
          <p:cNvCxnSpPr/>
          <p:nvPr/>
        </p:nvCxnSpPr>
        <p:spPr>
          <a:xfrm>
            <a:off x="270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1" name="diagram-2"/>
          <p:cNvSpPr txBox="1"/>
          <p:nvPr/>
        </p:nvSpPr>
        <p:spPr>
          <a:xfrm>
            <a:off x="2980000" y="2870000"/>
            <a:ext cx="185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Gate</a:t>
            </a:r>
            <a:endParaRPr lang="en-US" sz="1350"/>
          </a:p>
        </p:txBody>
      </p:sp>
      <p:cxnSp>
        <p:nvCxnSpPr>
          <p:cNvPr id="31" name="connector"/>
          <p:cNvCxnSpPr/>
          <p:nvPr/>
        </p:nvCxnSpPr>
        <p:spPr>
          <a:xfrm>
            <a:off x="483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2" name="diagram-3"/>
          <p:cNvSpPr txBox="1"/>
          <p:nvPr/>
        </p:nvSpPr>
        <p:spPr>
          <a:xfrm>
            <a:off x="511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DFF</a:t>
            </a:r>
            <a:endParaRPr lang="en-US" sz="1350"/>
          </a:p>
        </p:txBody>
      </p:sp>
      <p:cxnSp>
        <p:nvCxnSpPr>
          <p:cNvPr id="32" name="connector"/>
          <p:cNvCxnSpPr/>
          <p:nvPr/>
        </p:nvCxnSpPr>
        <p:spPr>
          <a:xfrm>
            <a:off x="696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3" name="diagram-4"/>
          <p:cNvSpPr txBox="1"/>
          <p:nvPr/>
        </p:nvSpPr>
        <p:spPr>
          <a:xfrm>
            <a:off x="7240000" y="2870000"/>
            <a:ext cx="185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drivers</a:t>
            </a:r>
            <a:endParaRPr lang="en-US" sz="1350"/>
          </a:p>
        </p:txBody>
      </p:sp>
      <p:cxnSp>
        <p:nvCxnSpPr>
          <p:cNvPr id="33" name="connector"/>
          <p:cNvCxnSpPr/>
          <p:nvPr/>
        </p:nvCxnSpPr>
        <p:spPr>
          <a:xfrm>
            <a:off x="909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4" name="diagram-5"/>
          <p:cNvSpPr txBox="1"/>
          <p:nvPr/>
        </p:nvSpPr>
        <p:spPr>
          <a:xfrm>
            <a:off x="937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fanouts</a:t>
            </a:r>
            <a:endParaRPr lang="en-US" sz="1350"/>
          </a:p>
        </p:txBody>
      </p:sp>
      <p:sp>
        <p:nvSpPr>
          <p:cNvPr id="50" name="footer"/>
          <p:cNvSpPr txBox="1"/>
          <p:nvPr/>
        </p:nvSpPr>
        <p:spPr>
          <a:xfrm>
            <a:off x="9650000" y="640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950">
                <a:solidFill>
                  <a:srgbClr val="64748B"/>
                </a:solidFill>
                <a:latin typeface="Aptos"/>
                <a:ea typeface="Microsoft JhengHei"/>
              </a:rPr>
              <a:t>04 / 08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3" name="left-accent"/>
          <p:cNvSpPr txBox="1"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4" name="kicker"/>
          <p:cNvSpPr txBox="1"/>
          <p:nvPr/>
        </p:nvSpPr>
        <p:spPr>
          <a:xfrm>
            <a:off x="685800" y="365760"/>
            <a:ext cx="220000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50" b="1">
                <a:solidFill>
                  <a:srgbClr val="1D4ED8"/>
                </a:solidFill>
                <a:latin typeface="Aptos"/>
                <a:ea typeface="Microsoft JhengHei"/>
              </a:rPr>
              <a:t>PARSER / WRITER</a:t>
            </a:r>
            <a:endParaRPr lang="en-US" sz="1150"/>
          </a:p>
        </p:txBody>
      </p:sp>
      <p:sp>
        <p:nvSpPr>
          <p:cNvPr id="5" name="title"/>
          <p:cNvSpPr txBox="1"/>
          <p:nvPr/>
        </p:nvSpPr>
        <p:spPr>
          <a:xfrm>
            <a:off x="685800" y="838200"/>
            <a:ext cx="103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b="1">
                <a:solidFill>
                  <a:srgbClr val="0F172A"/>
                </a:solidFill>
                <a:latin typeface="Aptos"/>
                <a:ea typeface="Microsoft JhengHei"/>
              </a:rPr>
              <a:t>Yosys is a helper, not the source of truth</a:t>
            </a:r>
            <a:endParaRPr lang="en-US" sz="3000"/>
          </a:p>
        </p:txBody>
      </p:sp>
      <p:sp>
        <p:nvSpPr>
          <p:cNvPr id="6" name="subtitle"/>
          <p:cNvSpPr txBox="1"/>
          <p:nvPr/>
        </p:nvSpPr>
        <p:spPr>
          <a:xfrm>
            <a:off x="685800" y="16764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50">
                <a:solidFill>
                  <a:srgbClr val="475569"/>
                </a:solidFill>
                <a:latin typeface="Aptos"/>
                <a:ea typeface="Microsoft JhengHei"/>
              </a:rPr>
              <a:t>The parser uses Yosys JSON when available, then converts everything back into the project Design IR.</a:t>
            </a:r>
            <a:endParaRPr lang="en-US" sz="1550"/>
          </a:p>
        </p:txBody>
      </p:sp>
      <p:sp>
        <p:nvSpPr>
          <p:cNvPr id="7" name="bullets"/>
          <p:cNvSpPr txBox="1"/>
          <p:nvPr/>
        </p:nvSpPr>
        <p:spPr>
          <a:xfrm>
            <a:off x="685800" y="4880000"/>
            <a:ext cx="10000000" cy="1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Primitive wrappers preserve gate instance behavior through Yosys normalization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Direct gate-level fallback handles Windows GetShortPathName failures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Writer emits deterministic primitive Verilog and validates when possible</a:t>
            </a:r>
            <a:endParaRPr lang="en-US" sz="1450"/>
          </a:p>
        </p:txBody>
      </p:sp>
      <p:sp>
        <p:nvSpPr>
          <p:cNvPr id="10" name="diagram-1"/>
          <p:cNvSpPr txBox="1"/>
          <p:nvPr/>
        </p:nvSpPr>
        <p:spPr>
          <a:xfrm>
            <a:off x="85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Verilog</a:t>
            </a:r>
            <a:endParaRPr lang="en-US" sz="1350"/>
          </a:p>
        </p:txBody>
      </p:sp>
      <p:cxnSp>
        <p:nvCxnSpPr>
          <p:cNvPr id="30" name="connector"/>
          <p:cNvCxnSpPr/>
          <p:nvPr/>
        </p:nvCxnSpPr>
        <p:spPr>
          <a:xfrm>
            <a:off x="270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1" name="diagram-2"/>
          <p:cNvSpPr txBox="1"/>
          <p:nvPr/>
        </p:nvSpPr>
        <p:spPr>
          <a:xfrm>
            <a:off x="2980000" y="2870000"/>
            <a:ext cx="185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Yosys / fallback</a:t>
            </a:r>
            <a:endParaRPr lang="en-US" sz="1350"/>
          </a:p>
        </p:txBody>
      </p:sp>
      <p:cxnSp>
        <p:nvCxnSpPr>
          <p:cNvPr id="31" name="connector"/>
          <p:cNvCxnSpPr/>
          <p:nvPr/>
        </p:nvCxnSpPr>
        <p:spPr>
          <a:xfrm>
            <a:off x="483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2" name="diagram-3"/>
          <p:cNvSpPr txBox="1"/>
          <p:nvPr/>
        </p:nvSpPr>
        <p:spPr>
          <a:xfrm>
            <a:off x="511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Design IR</a:t>
            </a:r>
            <a:endParaRPr lang="en-US" sz="1350"/>
          </a:p>
        </p:txBody>
      </p:sp>
      <p:cxnSp>
        <p:nvCxnSpPr>
          <p:cNvPr id="32" name="connector"/>
          <p:cNvCxnSpPr/>
          <p:nvPr/>
        </p:nvCxnSpPr>
        <p:spPr>
          <a:xfrm>
            <a:off x="696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3" name="diagram-4"/>
          <p:cNvSpPr txBox="1"/>
          <p:nvPr/>
        </p:nvSpPr>
        <p:spPr>
          <a:xfrm>
            <a:off x="7240000" y="2870000"/>
            <a:ext cx="185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Writer</a:t>
            </a:r>
            <a:endParaRPr lang="en-US" sz="1350"/>
          </a:p>
        </p:txBody>
      </p:sp>
      <p:cxnSp>
        <p:nvCxnSpPr>
          <p:cNvPr id="33" name="connector"/>
          <p:cNvCxnSpPr/>
          <p:nvPr/>
        </p:nvCxnSpPr>
        <p:spPr>
          <a:xfrm>
            <a:off x="909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4" name="diagram-5"/>
          <p:cNvSpPr txBox="1"/>
          <p:nvPr/>
        </p:nvSpPr>
        <p:spPr>
          <a:xfrm>
            <a:off x="937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Verilog out</a:t>
            </a:r>
            <a:endParaRPr lang="en-US" sz="1350"/>
          </a:p>
        </p:txBody>
      </p:sp>
      <p:sp>
        <p:nvSpPr>
          <p:cNvPr id="50" name="footer"/>
          <p:cNvSpPr txBox="1"/>
          <p:nvPr/>
        </p:nvSpPr>
        <p:spPr>
          <a:xfrm>
            <a:off x="9650000" y="640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950">
                <a:solidFill>
                  <a:srgbClr val="64748B"/>
                </a:solidFill>
                <a:latin typeface="Aptos"/>
                <a:ea typeface="Microsoft JhengHei"/>
              </a:rPr>
              <a:t>05 / 08</a:t>
            </a:r>
            <a:endParaRPr lang="en-US" sz="9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3" name="left-accent"/>
          <p:cNvSpPr txBox="1"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4" name="kicker"/>
          <p:cNvSpPr txBox="1"/>
          <p:nvPr/>
        </p:nvSpPr>
        <p:spPr>
          <a:xfrm>
            <a:off x="685800" y="365760"/>
            <a:ext cx="220000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50" b="1">
                <a:solidFill>
                  <a:srgbClr val="1D4ED8"/>
                </a:solidFill>
                <a:latin typeface="Aptos"/>
                <a:ea typeface="Microsoft JhengHei"/>
              </a:rPr>
              <a:t>ANALYSIS + FORMAL</a:t>
            </a:r>
            <a:endParaRPr lang="en-US" sz="1150"/>
          </a:p>
        </p:txBody>
      </p:sp>
      <p:sp>
        <p:nvSpPr>
          <p:cNvPr id="5" name="title"/>
          <p:cNvSpPr txBox="1"/>
          <p:nvPr/>
        </p:nvSpPr>
        <p:spPr>
          <a:xfrm>
            <a:off x="685800" y="838200"/>
            <a:ext cx="103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b="1">
                <a:solidFill>
                  <a:srgbClr val="0F172A"/>
                </a:solidFill>
                <a:latin typeface="Aptos"/>
                <a:ea typeface="Microsoft JhengHei"/>
              </a:rPr>
              <a:t>Structural analysis and Z3 checks share the same design state</a:t>
            </a:r>
            <a:endParaRPr lang="en-US" sz="3000"/>
          </a:p>
        </p:txBody>
      </p:sp>
      <p:sp>
        <p:nvSpPr>
          <p:cNvPr id="6" name="subtitle"/>
          <p:cNvSpPr txBox="1"/>
          <p:nvPr/>
        </p:nvSpPr>
        <p:spPr>
          <a:xfrm>
            <a:off x="685800" y="16764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50">
                <a:solidFill>
                  <a:srgbClr val="475569"/>
                </a:solidFill>
                <a:latin typeface="Aptos"/>
                <a:ea typeface="Microsoft JhengHei"/>
              </a:rPr>
              <a:t>The backend answers path, depth, cone, fanout, register-path, equivalence, and property questions.</a:t>
            </a:r>
            <a:endParaRPr lang="en-US" sz="1550"/>
          </a:p>
        </p:txBody>
      </p:sp>
      <p:sp>
        <p:nvSpPr>
          <p:cNvPr id="7" name="bullets"/>
          <p:cNvSpPr txBox="1"/>
          <p:nvPr/>
        </p:nvSpPr>
        <p:spPr>
          <a:xfrm>
            <a:off x="685800" y="4880000"/>
            <a:ext cx="10000000" cy="1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Path search avoids DFF boundaries and supports avoided nodes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Depth and cone analysis use graph propagation over the IR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Z3 proves combinational equivalence/properties and returns counterexamples</a:t>
            </a:r>
            <a:endParaRPr lang="en-US" sz="1450"/>
          </a:p>
        </p:txBody>
      </p:sp>
      <p:sp>
        <p:nvSpPr>
          <p:cNvPr id="10" name="diagram-1"/>
          <p:cNvSpPr txBox="1"/>
          <p:nvPr/>
        </p:nvSpPr>
        <p:spPr>
          <a:xfrm>
            <a:off x="85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Path</a:t>
            </a:r>
            <a:endParaRPr lang="en-US" sz="1350"/>
          </a:p>
        </p:txBody>
      </p:sp>
      <p:cxnSp>
        <p:nvCxnSpPr>
          <p:cNvPr id="30" name="connector"/>
          <p:cNvCxnSpPr/>
          <p:nvPr/>
        </p:nvCxnSpPr>
        <p:spPr>
          <a:xfrm>
            <a:off x="270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1" name="diagram-2"/>
          <p:cNvSpPr txBox="1"/>
          <p:nvPr/>
        </p:nvSpPr>
        <p:spPr>
          <a:xfrm>
            <a:off x="2980000" y="2870000"/>
            <a:ext cx="185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Depth</a:t>
            </a:r>
            <a:endParaRPr lang="en-US" sz="1350"/>
          </a:p>
        </p:txBody>
      </p:sp>
      <p:cxnSp>
        <p:nvCxnSpPr>
          <p:cNvPr id="31" name="connector"/>
          <p:cNvCxnSpPr/>
          <p:nvPr/>
        </p:nvCxnSpPr>
        <p:spPr>
          <a:xfrm>
            <a:off x="483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2" name="diagram-3"/>
          <p:cNvSpPr txBox="1"/>
          <p:nvPr/>
        </p:nvSpPr>
        <p:spPr>
          <a:xfrm>
            <a:off x="511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Cone</a:t>
            </a:r>
            <a:endParaRPr lang="en-US" sz="1350"/>
          </a:p>
        </p:txBody>
      </p:sp>
      <p:cxnSp>
        <p:nvCxnSpPr>
          <p:cNvPr id="32" name="connector"/>
          <p:cNvCxnSpPr/>
          <p:nvPr/>
        </p:nvCxnSpPr>
        <p:spPr>
          <a:xfrm>
            <a:off x="696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3" name="diagram-4"/>
          <p:cNvSpPr txBox="1"/>
          <p:nvPr/>
        </p:nvSpPr>
        <p:spPr>
          <a:xfrm>
            <a:off x="7240000" y="2870000"/>
            <a:ext cx="185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Fanout</a:t>
            </a:r>
            <a:endParaRPr lang="en-US" sz="1350"/>
          </a:p>
        </p:txBody>
      </p:sp>
      <p:cxnSp>
        <p:nvCxnSpPr>
          <p:cNvPr id="33" name="connector"/>
          <p:cNvCxnSpPr/>
          <p:nvPr/>
        </p:nvCxnSpPr>
        <p:spPr>
          <a:xfrm>
            <a:off x="909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4" name="diagram-5"/>
          <p:cNvSpPr txBox="1"/>
          <p:nvPr/>
        </p:nvSpPr>
        <p:spPr>
          <a:xfrm>
            <a:off x="937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Z3</a:t>
            </a:r>
            <a:endParaRPr lang="en-US" sz="1350"/>
          </a:p>
        </p:txBody>
      </p:sp>
      <p:sp>
        <p:nvSpPr>
          <p:cNvPr id="50" name="footer"/>
          <p:cNvSpPr txBox="1"/>
          <p:nvPr/>
        </p:nvSpPr>
        <p:spPr>
          <a:xfrm>
            <a:off x="9650000" y="640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950">
                <a:solidFill>
                  <a:srgbClr val="64748B"/>
                </a:solidFill>
                <a:latin typeface="Aptos"/>
                <a:ea typeface="Microsoft JhengHei"/>
              </a:rPr>
              <a:t>06 / 08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3" name="left-accent"/>
          <p:cNvSpPr txBox="1"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4" name="kicker"/>
          <p:cNvSpPr txBox="1"/>
          <p:nvPr/>
        </p:nvSpPr>
        <p:spPr>
          <a:xfrm>
            <a:off x="685800" y="365760"/>
            <a:ext cx="220000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50" b="1">
                <a:solidFill>
                  <a:srgbClr val="1D4ED8"/>
                </a:solidFill>
                <a:latin typeface="Aptos"/>
                <a:ea typeface="Microsoft JhengHei"/>
              </a:rPr>
              <a:t>TRANSFORM / OPTIMIZE</a:t>
            </a:r>
            <a:endParaRPr lang="en-US" sz="1150"/>
          </a:p>
        </p:txBody>
      </p:sp>
      <p:sp>
        <p:nvSpPr>
          <p:cNvPr id="5" name="title"/>
          <p:cNvSpPr txBox="1"/>
          <p:nvPr/>
        </p:nvSpPr>
        <p:spPr>
          <a:xfrm>
            <a:off x="685800" y="838200"/>
            <a:ext cx="103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b="1">
                <a:solidFill>
                  <a:srgbClr val="0F172A"/>
                </a:solidFill>
                <a:latin typeface="Aptos"/>
                <a:ea typeface="Microsoft JhengHei"/>
              </a:rPr>
              <a:t>Function-preserving transforms are transactional</a:t>
            </a:r>
            <a:endParaRPr lang="en-US" sz="3000"/>
          </a:p>
        </p:txBody>
      </p:sp>
      <p:sp>
        <p:nvSpPr>
          <p:cNvPr id="6" name="subtitle"/>
          <p:cNvSpPr txBox="1"/>
          <p:nvPr/>
        </p:nvSpPr>
        <p:spPr>
          <a:xfrm>
            <a:off x="685800" y="16764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50">
                <a:solidFill>
                  <a:srgbClr val="475569"/>
                </a:solidFill>
                <a:latin typeface="Aptos"/>
                <a:ea typeface="Microsoft JhengHei"/>
              </a:rPr>
              <a:t>The system modifies a copied design first and commits only after structural and formal guards pass.</a:t>
            </a:r>
            <a:endParaRPr lang="en-US" sz="1550"/>
          </a:p>
        </p:txBody>
      </p:sp>
      <p:sp>
        <p:nvSpPr>
          <p:cNvPr id="7" name="bullets"/>
          <p:cNvSpPr txBox="1"/>
          <p:nvPr/>
        </p:nvSpPr>
        <p:spPr>
          <a:xfrm>
            <a:off x="685800" y="4880000"/>
            <a:ext cx="10000000" cy="1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Guards: connectivity, equivalence, fanout/depth constraints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Implemented transforms include rename, constant propagation, dangling removal, fanout buffers, depth balancing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Technology mapping rewrites cover NAND/NOR/AND/NOT/XOR/XNOR style requests</a:t>
            </a:r>
            <a:endParaRPr lang="en-US" sz="1450"/>
          </a:p>
        </p:txBody>
      </p:sp>
      <p:sp>
        <p:nvSpPr>
          <p:cNvPr id="10" name="diagram-1"/>
          <p:cNvSpPr txBox="1"/>
          <p:nvPr/>
        </p:nvSpPr>
        <p:spPr>
          <a:xfrm>
            <a:off x="85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Copy</a:t>
            </a:r>
            <a:endParaRPr lang="en-US" sz="1350"/>
          </a:p>
        </p:txBody>
      </p:sp>
      <p:cxnSp>
        <p:nvCxnSpPr>
          <p:cNvPr id="30" name="connector"/>
          <p:cNvCxnSpPr/>
          <p:nvPr/>
        </p:nvCxnSpPr>
        <p:spPr>
          <a:xfrm>
            <a:off x="270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1" name="diagram-2"/>
          <p:cNvSpPr txBox="1"/>
          <p:nvPr/>
        </p:nvSpPr>
        <p:spPr>
          <a:xfrm>
            <a:off x="2980000" y="2870000"/>
            <a:ext cx="185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Rewrite</a:t>
            </a:r>
            <a:endParaRPr lang="en-US" sz="1350"/>
          </a:p>
        </p:txBody>
      </p:sp>
      <p:cxnSp>
        <p:nvCxnSpPr>
          <p:cNvPr id="31" name="connector"/>
          <p:cNvCxnSpPr/>
          <p:nvPr/>
        </p:nvCxnSpPr>
        <p:spPr>
          <a:xfrm>
            <a:off x="483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2" name="diagram-3"/>
          <p:cNvSpPr txBox="1"/>
          <p:nvPr/>
        </p:nvSpPr>
        <p:spPr>
          <a:xfrm>
            <a:off x="511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Rebuild graph</a:t>
            </a:r>
            <a:endParaRPr lang="en-US" sz="1350"/>
          </a:p>
        </p:txBody>
      </p:sp>
      <p:cxnSp>
        <p:nvCxnSpPr>
          <p:cNvPr id="32" name="connector"/>
          <p:cNvCxnSpPr/>
          <p:nvPr/>
        </p:nvCxnSpPr>
        <p:spPr>
          <a:xfrm>
            <a:off x="696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3" name="diagram-4"/>
          <p:cNvSpPr txBox="1"/>
          <p:nvPr/>
        </p:nvSpPr>
        <p:spPr>
          <a:xfrm>
            <a:off x="7240000" y="2870000"/>
            <a:ext cx="185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Verify guards</a:t>
            </a:r>
            <a:endParaRPr lang="en-US" sz="1350"/>
          </a:p>
        </p:txBody>
      </p:sp>
      <p:cxnSp>
        <p:nvCxnSpPr>
          <p:cNvPr id="33" name="connector"/>
          <p:cNvCxnSpPr/>
          <p:nvPr/>
        </p:nvCxnSpPr>
        <p:spPr>
          <a:xfrm>
            <a:off x="909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4" name="diagram-5"/>
          <p:cNvSpPr txBox="1"/>
          <p:nvPr/>
        </p:nvSpPr>
        <p:spPr>
          <a:xfrm>
            <a:off x="9370000" y="2870000"/>
            <a:ext cx="185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Commit</a:t>
            </a:r>
            <a:endParaRPr lang="en-US" sz="1350"/>
          </a:p>
        </p:txBody>
      </p:sp>
      <p:sp>
        <p:nvSpPr>
          <p:cNvPr id="50" name="footer"/>
          <p:cNvSpPr txBox="1"/>
          <p:nvPr/>
        </p:nvSpPr>
        <p:spPr>
          <a:xfrm>
            <a:off x="9650000" y="640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950">
                <a:solidFill>
                  <a:srgbClr val="64748B"/>
                </a:solidFill>
                <a:latin typeface="Aptos"/>
                <a:ea typeface="Microsoft JhengHei"/>
              </a:rPr>
              <a:t>07 / 08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3" name="left-accent"/>
          <p:cNvSpPr txBox="1"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200">
                <a:solidFill>
                  <a:srgbClr val="111827"/>
                </a:solidFill>
                <a:latin typeface="Aptos"/>
                <a:ea typeface="Microsoft JhengHei"/>
              </a:rPr>
              <a:t/>
            </a:r>
            <a:endParaRPr lang="en-US" sz="2200"/>
          </a:p>
        </p:txBody>
      </p:sp>
      <p:sp>
        <p:nvSpPr>
          <p:cNvPr id="4" name="kicker"/>
          <p:cNvSpPr txBox="1"/>
          <p:nvPr/>
        </p:nvSpPr>
        <p:spPr>
          <a:xfrm>
            <a:off x="685800" y="365760"/>
            <a:ext cx="2200000" cy="3657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150" b="1">
                <a:solidFill>
                  <a:srgbClr val="1D4ED8"/>
                </a:solidFill>
                <a:latin typeface="Aptos"/>
                <a:ea typeface="Microsoft JhengHei"/>
              </a:rPr>
              <a:t>CONTRIBUTION</a:t>
            </a:r>
            <a:endParaRPr lang="en-US" sz="1150"/>
          </a:p>
        </p:txBody>
      </p:sp>
      <p:sp>
        <p:nvSpPr>
          <p:cNvPr id="5" name="title"/>
          <p:cNvSpPr txBox="1"/>
          <p:nvPr/>
        </p:nvSpPr>
        <p:spPr>
          <a:xfrm>
            <a:off x="685800" y="838200"/>
            <a:ext cx="103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b="1">
                <a:solidFill>
                  <a:srgbClr val="0F172A"/>
                </a:solidFill>
                <a:latin typeface="Aptos"/>
                <a:ea typeface="Microsoft JhengHei"/>
              </a:rPr>
              <a:t>The contribution is a safe control architecture for LLM-assisted EDA</a:t>
            </a:r>
            <a:endParaRPr lang="en-US" sz="3000"/>
          </a:p>
        </p:txBody>
      </p:sp>
      <p:sp>
        <p:nvSpPr>
          <p:cNvPr id="6" name="subtitle"/>
          <p:cNvSpPr txBox="1"/>
          <p:nvPr/>
        </p:nvSpPr>
        <p:spPr>
          <a:xfrm>
            <a:off x="685800" y="1676400"/>
            <a:ext cx="93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50">
                <a:solidFill>
                  <a:srgbClr val="475569"/>
                </a:solidFill>
                <a:latin typeface="Aptos"/>
                <a:ea typeface="Microsoft JhengHei"/>
              </a:rPr>
              <a:t>The project combines constrained LLM planning, deterministic algorithms, open-source helpers, and formal guards.</a:t>
            </a:r>
            <a:endParaRPr lang="en-US" sz="1550"/>
          </a:p>
        </p:txBody>
      </p:sp>
      <p:sp>
        <p:nvSpPr>
          <p:cNvPr id="7" name="bullets"/>
          <p:cNvSpPr txBox="1"/>
          <p:nvPr/>
        </p:nvSpPr>
        <p:spPr>
          <a:xfrm>
            <a:off x="685800" y="4880000"/>
            <a:ext cx="10000000" cy="1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Safety: Tool API + plan checker + dispatcher boundary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Robustness: Yosys fallback, large path artifacts, release-runner timeout handling</a:t>
            </a:r>
            <a:endParaRPr lang="en-US" sz="1450"/>
          </a:p>
          <a:p>
            <a:pPr algn="l"/>
            <a:r>
              <a:rPr lang="en-US" sz="1450">
                <a:solidFill>
                  <a:srgbClr val="1E293B"/>
                </a:solidFill>
                <a:latin typeface="Aptos"/>
                <a:ea typeface="Microsoft JhengHei"/>
              </a:rPr>
              <a:t>• Evidence: 172 unit tests passing and release-testcase driven fixes</a:t>
            </a:r>
            <a:endParaRPr lang="en-US" sz="1450"/>
          </a:p>
        </p:txBody>
      </p:sp>
      <p:sp>
        <p:nvSpPr>
          <p:cNvPr id="10" name="diagram-1"/>
          <p:cNvSpPr txBox="1"/>
          <p:nvPr/>
        </p:nvSpPr>
        <p:spPr>
          <a:xfrm>
            <a:off x="850000" y="2870000"/>
            <a:ext cx="220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LLM control</a:t>
            </a:r>
            <a:endParaRPr lang="en-US" sz="1350"/>
          </a:p>
        </p:txBody>
      </p:sp>
      <p:cxnSp>
        <p:nvCxnSpPr>
          <p:cNvPr id="30" name="connector"/>
          <p:cNvCxnSpPr/>
          <p:nvPr/>
        </p:nvCxnSpPr>
        <p:spPr>
          <a:xfrm>
            <a:off x="305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1" name="diagram-2"/>
          <p:cNvSpPr txBox="1"/>
          <p:nvPr/>
        </p:nvSpPr>
        <p:spPr>
          <a:xfrm>
            <a:off x="3330000" y="2870000"/>
            <a:ext cx="220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Deterministic EDA</a:t>
            </a:r>
            <a:endParaRPr lang="en-US" sz="1350"/>
          </a:p>
        </p:txBody>
      </p:sp>
      <p:cxnSp>
        <p:nvCxnSpPr>
          <p:cNvPr id="31" name="connector"/>
          <p:cNvCxnSpPr/>
          <p:nvPr/>
        </p:nvCxnSpPr>
        <p:spPr>
          <a:xfrm>
            <a:off x="553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2" name="diagram-3"/>
          <p:cNvSpPr txBox="1"/>
          <p:nvPr/>
        </p:nvSpPr>
        <p:spPr>
          <a:xfrm>
            <a:off x="5810000" y="2870000"/>
            <a:ext cx="2200000" cy="64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Formal guards</a:t>
            </a:r>
            <a:endParaRPr lang="en-US" sz="1350"/>
          </a:p>
        </p:txBody>
      </p:sp>
      <p:cxnSp>
        <p:nvCxnSpPr>
          <p:cNvPr id="32" name="connector"/>
          <p:cNvCxnSpPr/>
          <p:nvPr/>
        </p:nvCxnSpPr>
        <p:spPr>
          <a:xfrm>
            <a:off x="8010000" y="3190000"/>
            <a:ext cx="220000" cy="1"/>
          </a:xfrm>
          <a:prstGeom prst="line">
            <a:avLst/>
          </a:prstGeom>
          <a:ln w="25400">
            <a:solidFill>
              <a:srgbClr val="64748B"/>
            </a:solidFill>
            <a:tailEnd type="triangle"/>
          </a:ln>
        </p:spPr>
      </p:cxnSp>
      <p:sp>
        <p:nvSpPr>
          <p:cNvPr id="13" name="diagram-4"/>
          <p:cNvSpPr txBox="1"/>
          <p:nvPr/>
        </p:nvSpPr>
        <p:spPr>
          <a:xfrm>
            <a:off x="8290000" y="2870000"/>
            <a:ext cx="2200000" cy="64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50" b="1">
                <a:solidFill>
                  <a:srgbClr val="0F172A"/>
                </a:solidFill>
                <a:latin typeface="Aptos"/>
                <a:ea typeface="Microsoft JhengHei"/>
              </a:rPr>
              <a:t>Contest output</a:t>
            </a:r>
            <a:endParaRPr lang="en-US" sz="1350"/>
          </a:p>
        </p:txBody>
      </p:sp>
      <p:sp>
        <p:nvSpPr>
          <p:cNvPr id="50" name="footer"/>
          <p:cNvSpPr txBox="1"/>
          <p:nvPr/>
        </p:nvSpPr>
        <p:spPr>
          <a:xfrm>
            <a:off x="9650000" y="6400000"/>
            <a:ext cx="1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950">
                <a:solidFill>
                  <a:srgbClr val="64748B"/>
                </a:solidFill>
                <a:latin typeface="Aptos"/>
                <a:ea typeface="Microsoft JhengHei"/>
              </a:rPr>
              <a:t>08 / 08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D_A Theme">
  <a:themeElements>
    <a:clrScheme name="CAD_A">
      <a:dk1>
        <a:srgbClr val="111827"/>
      </a:dk1>
      <a:lt1>
        <a:srgbClr val="F8FAFC"/>
      </a:lt1>
      <a:dk2>
        <a:srgbClr val="1E293B"/>
      </a:dk2>
      <a:lt2>
        <a:srgbClr val="E2E8F0"/>
      </a:lt2>
      <a:accent1>
        <a:srgbClr val="2563EB"/>
      </a:accent1>
      <a:accent2>
        <a:srgbClr val="10B981"/>
      </a:accent2>
      <a:accent3>
        <a:srgbClr val="F59E0B"/>
      </a:accent3>
      <a:accent4>
        <a:srgbClr val="EF4444"/>
      </a:accent4>
      <a:accent5>
        <a:srgbClr val="64748B"/>
      </a:accent5>
      <a:accent6>
        <a:srgbClr val="0F766E"/>
      </a:accent6>
      <a:hlink>
        <a:srgbClr val="2563EB"/>
      </a:hlink>
      <a:folHlink>
        <a:srgbClr val="7C3AED"/>
      </a:folHlink>
    </a:clrScheme>
    <a:fontScheme name="CAD_A Fonts">
      <a:majorFont>
        <a:latin typeface="Aptos Display"/>
        <a:ea typeface="Microsoft JhengHei"/>
        <a:cs typeface="Aptos"/>
      </a:majorFont>
      <a:minorFont>
        <a:latin typeface="Aptos"/>
        <a:ea typeface="Microsoft JhengHei"/>
        <a:cs typeface="Aptos"/>
      </a:minorFont>
    </a:fontScheme>
    <a:fmtScheme name="CAD_A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CAD_A Architecture Progress</dc:title>
  <dc:creator>Codex</dc:creator>
  <cp:lastModifiedBy>Codex</cp:lastModifiedBy>
  <dcterms:created xsi:type="dcterms:W3CDTF">2026-06-16T05:53:54Z</dcterms:created>
  <dcterms:modified xsi:type="dcterms:W3CDTF">2026-06-16T05:53:54Z</dcterms:modified>
</cp:coreProperties>
</file>